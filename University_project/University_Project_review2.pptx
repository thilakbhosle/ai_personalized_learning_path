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74" r:id="rId4"/>
    <p:sldId id="268" r:id="rId5"/>
    <p:sldId id="272" r:id="rId6"/>
    <p:sldId id="271" r:id="rId7"/>
    <p:sldId id="270" r:id="rId8"/>
    <p:sldId id="275" r:id="rId9"/>
    <p:sldId id="276" r:id="rId10"/>
    <p:sldId id="277" r:id="rId11"/>
    <p:sldId id="278" r:id="rId12"/>
    <p:sldId id="280" r:id="rId13"/>
    <p:sldId id="281" r:id="rId14"/>
    <p:sldId id="283" r:id="rId15"/>
    <p:sldId id="282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571-5577/7/1/6/xml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jcaonline.org/archives/volume174/number22/31801-2021921122/?utm_source=chatgpt.com" TargetMode="External"/><Relationship Id="rId5" Type="http://schemas.openxmlformats.org/officeDocument/2006/relationships/hyperlink" Target="https://www.mdpi.com/2227-7102/11/9/552?utm_source=chatgpt.com" TargetMode="External"/><Relationship Id="rId4" Type="http://schemas.openxmlformats.org/officeDocument/2006/relationships/hyperlink" Target="https://ijcttjournal.org/archives/ijctt-v73i4p113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ilakbhosle/AI_Personalized_Learning_Path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87;p13">
            <a:extLst>
              <a:ext uri="{FF2B5EF4-FFF2-40B4-BE49-F238E27FC236}">
                <a16:creationId xmlns:a16="http://schemas.microsoft.com/office/drawing/2014/main" id="{1294199E-DC17-1F96-F831-204B689CB0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AI-Powered Personalized Learning Path Generator</a:t>
            </a:r>
            <a:endParaRPr sz="2400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Google Shape;88;p13">
            <a:extLst>
              <a:ext uri="{FF2B5EF4-FFF2-40B4-BE49-F238E27FC236}">
                <a16:creationId xmlns:a16="http://schemas.microsoft.com/office/drawing/2014/main" id="{C5FF088C-4795-8A33-84E6-871945A01C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Team number : CSE_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192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Google Shape;90;p13">
            <a:extLst>
              <a:ext uri="{FF2B5EF4-FFF2-40B4-BE49-F238E27FC236}">
                <a16:creationId xmlns:a16="http://schemas.microsoft.com/office/drawing/2014/main" id="{6DC7F0A9-1578-1233-C878-034A7C9CB4CF}"/>
              </a:ext>
            </a:extLst>
          </p:cNvPr>
          <p:cNvSpPr txBox="1"/>
          <p:nvPr/>
        </p:nvSpPr>
        <p:spPr>
          <a:xfrm>
            <a:off x="6525369" y="2577186"/>
            <a:ext cx="4721751" cy="170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Vinayak Raju Kage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16" name="Google Shape;89;p13">
            <a:extLst>
              <a:ext uri="{FF2B5EF4-FFF2-40B4-BE49-F238E27FC236}">
                <a16:creationId xmlns:a16="http://schemas.microsoft.com/office/drawing/2014/main" id="{83B99646-CD78-6326-7C1F-05F0526D7D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320511"/>
              </p:ext>
            </p:extLst>
          </p:nvPr>
        </p:nvGraphicFramePr>
        <p:xfrm>
          <a:off x="236807" y="2611004"/>
          <a:ext cx="567790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4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20231CSE3020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THILAK M BHOSLE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20231CSE3084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HARSHA HM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20231CSE3048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VINOD KUMAR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Google Shape;91;p13">
            <a:extLst>
              <a:ext uri="{FF2B5EF4-FFF2-40B4-BE49-F238E27FC236}">
                <a16:creationId xmlns:a16="http://schemas.microsoft.com/office/drawing/2014/main" id="{9C35A5E5-DD85-97D7-6E3C-F73C555CB81A}"/>
              </a:ext>
            </a:extLst>
          </p:cNvPr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8" name="Google Shape;91;p13">
            <a:extLst>
              <a:ext uri="{FF2B5EF4-FFF2-40B4-BE49-F238E27FC236}">
                <a16:creationId xmlns:a16="http://schemas.microsoft.com/office/drawing/2014/main" id="{42AE14E7-6D9A-1FD1-52D1-BB4A3C96CAF0}"/>
              </a:ext>
            </a:extLst>
          </p:cNvPr>
          <p:cNvSpPr txBox="1"/>
          <p:nvPr/>
        </p:nvSpPr>
        <p:spPr>
          <a:xfrm>
            <a:off x="400411" y="4670446"/>
            <a:ext cx="9315089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			: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in computer science &amp; engineering</a:t>
            </a:r>
          </a:p>
          <a:p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: </a:t>
            </a: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Dr. Asif Mohamed HB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	: </a:t>
            </a:r>
            <a:r>
              <a:rPr lang="en-US" sz="1600" b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Muthuraju</a:t>
            </a: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V.</a:t>
            </a:r>
            <a:endParaRPr lang="en-US" sz="1600" b="1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	: </a:t>
            </a:r>
            <a:r>
              <a:rPr lang="en-US" sz="1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</a:t>
            </a:r>
            <a:endParaRPr sz="18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99535"/>
            <a:ext cx="10668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900" b="1" dirty="0" err="1">
                <a:latin typeface="Cambria" panose="02040503050406030204" pitchFamily="18" charset="0"/>
                <a:ea typeface="Cambria" panose="02040503050406030204" pitchFamily="18" charset="0"/>
              </a:rPr>
              <a:t>Archtecture</a:t>
            </a: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Hardwere and </a:t>
            </a:r>
            <a:r>
              <a:rPr lang="en-US" sz="4900" b="1" dirty="0" err="1">
                <a:latin typeface="Cambria" panose="02040503050406030204" pitchFamily="18" charset="0"/>
                <a:ea typeface="Cambria" panose="02040503050406030204" pitchFamily="18" charset="0"/>
              </a:rPr>
              <a:t>Softwere</a:t>
            </a: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9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96645" y="1229032"/>
            <a:ext cx="11372943" cy="495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600" b="1" dirty="0"/>
              <a:t>Problem:</a:t>
            </a:r>
            <a:r>
              <a:rPr lang="en-US" sz="1600" dirty="0"/>
              <a:t> Most learning platforms provide a common path for all users, which does not consider individual skills, interests, and learning pace.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600" b="1" dirty="0"/>
              <a:t>Proposed Solution:</a:t>
            </a:r>
            <a:r>
              <a:rPr lang="en-US" sz="1600" dirty="0"/>
              <a:t> An AI-Powered system that generates personalized learning paths based on user input like skill level, domain, and goals.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600" b="1" dirty="0"/>
              <a:t>Methodology:</a:t>
            </a:r>
            <a:r>
              <a:rPr lang="en-US" sz="1600" dirty="0"/>
              <a:t> The system uses input collection, rule-based processing, and structured topic mapping to create step-by-step learning roadmaps with resources.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600" b="1" dirty="0"/>
              <a:t>Outcome:</a:t>
            </a:r>
            <a:r>
              <a:rPr lang="en-US" sz="1600" dirty="0"/>
              <a:t> Provides a clear, organized, and efficient learning path, improving user experience compared to traditional one-size-fits-all methods.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6572C2-993D-3307-F997-5A102E236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338570"/>
              </p:ext>
            </p:extLst>
          </p:nvPr>
        </p:nvGraphicFramePr>
        <p:xfrm>
          <a:off x="812800" y="1012665"/>
          <a:ext cx="10668000" cy="5121695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112332281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168568912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2890543878"/>
                    </a:ext>
                  </a:extLst>
                </a:gridCol>
                <a:gridCol w="1907458">
                  <a:extLst>
                    <a:ext uri="{9D8B030D-6E8A-4147-A177-3AD203B41FA5}">
                      <a16:colId xmlns:a16="http://schemas.microsoft.com/office/drawing/2014/main" val="164560021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57936096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691399316"/>
                    </a:ext>
                  </a:extLst>
                </a:gridCol>
              </a:tblGrid>
              <a:tr h="42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No.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Author(s)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Year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Title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Published In / Details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Key Point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87232"/>
                  </a:ext>
                </a:extLst>
              </a:tr>
              <a:tr h="1116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Majjate, H.; Bellarhmouch, Y.; Jeghal, A.; Yahyaouy, A.; Tairi, H.; Zidani, K.A.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2024</a:t>
                      </a:r>
                      <a:endParaRPr lang="en-IN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/>
                        <a:t>AI-Powered Academic Guidance and Counseling System Based on Student Profile and Interests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Applied System Innovation, MDPI, Vol. 7, Issue 1, 2024. </a:t>
                      </a:r>
                      <a:r>
                        <a:rPr lang="en-US" sz="1100">
                          <a:hlinkClick r:id="rId3"/>
                        </a:rPr>
                        <a:t>MDPI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System uses student profiles + interests to personalize guidance.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939886"/>
                  </a:ext>
                </a:extLst>
              </a:tr>
              <a:tr h="146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P. Sai Charan Reddy; S. Periaswamy; E. Yadagiri; B. Sanjay; M. Omkar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2025</a:t>
                      </a:r>
                      <a:endParaRPr lang="en-IN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/>
                        <a:t>Career Counseling and Guidance App for Enhanced Student Career Choices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International Journal of Computer Trends and Technology (IJCTT), Vol. 73, No. 4, 2025. </a:t>
                      </a:r>
                      <a:r>
                        <a:rPr lang="en-US" sz="1100">
                          <a:hlinkClick r:id="rId4"/>
                        </a:rPr>
                        <a:t>Seventh Sense Research Group®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App-based counselling that recommends career path choices based on student data.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603792"/>
                  </a:ext>
                </a:extLst>
              </a:tr>
              <a:tr h="1176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Balqis Albreiki; Nazar Zaki; Hany Alashwal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2023 / 2024</a:t>
                      </a:r>
                      <a:endParaRPr lang="en-IN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/>
                        <a:t>A Systematic Literature Review of Student’ Performance Prediction Using Machine Learning Techniques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MDPI / Education Data Mining, 2023-2024. </a:t>
                      </a:r>
                      <a:r>
                        <a:rPr lang="en-US" sz="1100">
                          <a:hlinkClick r:id="rId5"/>
                        </a:rPr>
                        <a:t>MDPI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Survey of ML techniques predicting student performance; major classifiers, feature types.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964186"/>
                  </a:ext>
                </a:extLst>
              </a:tr>
              <a:tr h="942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/>
                        <a:t>Wedson L. Soares; Roberta A. De A. Fagundes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2021</a:t>
                      </a:r>
                      <a:endParaRPr lang="en-IN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/>
                        <a:t>Extreme Learning Machine Models for Predicting Student Performance</a:t>
                      </a:r>
                      <a:endParaRPr lang="en-US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International Journal of Computer Applications, 2021. </a:t>
                      </a:r>
                      <a:r>
                        <a:rPr lang="en-IN" sz="1100">
                          <a:hlinkClick r:id="rId6"/>
                        </a:rPr>
                        <a:t>IJCA</a:t>
                      </a:r>
                      <a:endParaRPr lang="en-IN" sz="1100"/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Use of extreme learning machine / ensemble methods for prediction of grades.</a:t>
                      </a:r>
                    </a:p>
                  </a:txBody>
                  <a:tcPr marL="70422" marR="70422" marT="35211" marB="352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7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16310" y="1317523"/>
            <a:ext cx="11385755" cy="489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500" b="1" dirty="0"/>
              <a:t>Develop a Web-based Career Counselling System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500" dirty="0"/>
              <a:t> To design and implement an interactive online platform that assists students in making well-informed career decisions.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500" b="1" dirty="0"/>
              <a:t>Enable Student Registration &amp; Secure Authentication</a:t>
            </a:r>
            <a:endParaRPr lang="en-US" sz="2500" b="1" dirty="0"/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/>
              <a:t> </a:t>
            </a:r>
            <a:r>
              <a:rPr lang="en-US" sz="2500" dirty="0"/>
              <a:t>To allow students to create accounts, log in securely, and maintain individual user profiles for personalized guidance.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500" b="1" dirty="0"/>
              <a:t>Conduct Interactive Quizzes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500" dirty="0"/>
              <a:t>To evaluate students’ aptitude, interest, and subject knowledge by providing subject-specific quizzes in Science, Commerce, and Arts.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500" b="1" dirty="0"/>
              <a:t>Perform Automated Result Analysis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500" dirty="0"/>
              <a:t>To check student responses, calculate scores, identify strengths and weaknesses, and generate performance insights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sz="2500" b="1" dirty="0"/>
              <a:t>Provide Personalized Career Suggestions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500" dirty="0"/>
              <a:t>To recommend suitable streams, higher education options, and potential career opportunities based on quiz outcomes.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953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116266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b="1" dirty="0"/>
              <a:t>Traditional Counselling: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1800" dirty="0"/>
              <a:t>Requires face-to-face sessions with experts.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1800" dirty="0"/>
              <a:t>Time-consuming, costly, and not easily accessible to all 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b="1" dirty="0"/>
              <a:t>Generic Aptitude Tests:</a:t>
            </a:r>
          </a:p>
          <a:p>
            <a:pPr marL="342900" lvl="0" indent="-190500" algn="just">
              <a:lnSpc>
                <a:spcPct val="160000"/>
              </a:lnSpc>
              <a:spcBef>
                <a:spcPts val="0"/>
              </a:spcBef>
              <a:buSzPct val="100000"/>
              <a:buNone/>
            </a:pPr>
            <a:r>
              <a:rPr lang="en-US" sz="1900" dirty="0"/>
              <a:t>Provide the same results for every student.</a:t>
            </a:r>
          </a:p>
          <a:p>
            <a:pPr marL="342900" lvl="0" indent="-190500" algn="just">
              <a:lnSpc>
                <a:spcPct val="160000"/>
              </a:lnSpc>
              <a:spcBef>
                <a:spcPts val="0"/>
              </a:spcBef>
              <a:buSzPct val="100000"/>
              <a:buNone/>
            </a:pPr>
            <a:r>
              <a:rPr lang="en-US" sz="1900" dirty="0"/>
              <a:t>Lack personalization and do not consider individual interests or strengths.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b="1" dirty="0"/>
              <a:t>Existing Portals: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1800" dirty="0"/>
              <a:t>Offer only basic information without interactive features.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1800" dirty="0"/>
              <a:t>Limited ability to engage students or give in-depth career guidance.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b="1" dirty="0"/>
              <a:t>Accessibility Issues</a:t>
            </a:r>
            <a:r>
              <a:rPr lang="en-US" dirty="0"/>
              <a:t> :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1800" dirty="0"/>
              <a:t>Students need flexible, self-paced guidance.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Web-based system: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with PHP &amp; MySQL.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Quiz-based evaluation for Science, Commerce, Arts.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Suggestions generated from quiz scores. 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Feasibility: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Technology: XAMPP stack (PHP, MySQL).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Cost: Free &amp; open-source tools.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Resources: Low hardware requirement.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15A9-81FA-08A7-18CE-3F987C561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EB626-DB4C-AAA8-1302-88ACB9F30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C3D81E-850E-AA32-E068-CE6D832C0835}"/>
              </a:ext>
            </a:extLst>
          </p:cNvPr>
          <p:cNvSpPr/>
          <p:nvPr/>
        </p:nvSpPr>
        <p:spPr>
          <a:xfrm>
            <a:off x="4666142" y="1304143"/>
            <a:ext cx="2880851" cy="4326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81038-3096-1F5C-8E49-8A574D328A1E}"/>
              </a:ext>
            </a:extLst>
          </p:cNvPr>
          <p:cNvSpPr/>
          <p:nvPr/>
        </p:nvSpPr>
        <p:spPr>
          <a:xfrm>
            <a:off x="4655574" y="2143504"/>
            <a:ext cx="2880850" cy="4326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Login/Register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4666EC-475D-E88C-F16C-B10EEF873EE0}"/>
              </a:ext>
            </a:extLst>
          </p:cNvPr>
          <p:cNvSpPr/>
          <p:nvPr/>
        </p:nvSpPr>
        <p:spPr>
          <a:xfrm>
            <a:off x="4680154" y="2924449"/>
            <a:ext cx="2880850" cy="4326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D95C94-3776-4C80-046E-26E74C714978}"/>
              </a:ext>
            </a:extLst>
          </p:cNvPr>
          <p:cNvSpPr/>
          <p:nvPr/>
        </p:nvSpPr>
        <p:spPr>
          <a:xfrm>
            <a:off x="4655574" y="3750391"/>
            <a:ext cx="2880850" cy="4326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Subject Selection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A6C944-0456-0939-3B96-8DDA52DEAEDC}"/>
              </a:ext>
            </a:extLst>
          </p:cNvPr>
          <p:cNvSpPr/>
          <p:nvPr/>
        </p:nvSpPr>
        <p:spPr>
          <a:xfrm>
            <a:off x="4655574" y="4589752"/>
            <a:ext cx="2856271" cy="4326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Quiz</a:t>
            </a:r>
            <a:r>
              <a:rPr lang="en-IN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76D68A-8FEA-7A4D-11F7-DF5C63F29477}"/>
              </a:ext>
            </a:extLst>
          </p:cNvPr>
          <p:cNvSpPr/>
          <p:nvPr/>
        </p:nvSpPr>
        <p:spPr>
          <a:xfrm>
            <a:off x="4643285" y="5489132"/>
            <a:ext cx="2880850" cy="4326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Results &amp; Suggestion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BE5CAAB-1C88-A14E-CC01-40F8EA72EF93}"/>
              </a:ext>
            </a:extLst>
          </p:cNvPr>
          <p:cNvSpPr/>
          <p:nvPr/>
        </p:nvSpPr>
        <p:spPr>
          <a:xfrm>
            <a:off x="6038728" y="1726382"/>
            <a:ext cx="45719" cy="3933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F1F5EBA-6FD8-EAEA-C54E-FC1648A4AFF1}"/>
              </a:ext>
            </a:extLst>
          </p:cNvPr>
          <p:cNvSpPr/>
          <p:nvPr/>
        </p:nvSpPr>
        <p:spPr>
          <a:xfrm>
            <a:off x="6083709" y="2644877"/>
            <a:ext cx="45719" cy="2795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80F26E1-5F17-45E8-9A60-E90469F4CAC6}"/>
              </a:ext>
            </a:extLst>
          </p:cNvPr>
          <p:cNvSpPr/>
          <p:nvPr/>
        </p:nvSpPr>
        <p:spPr>
          <a:xfrm>
            <a:off x="6038728" y="4183011"/>
            <a:ext cx="90700" cy="3933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634C2E4-0F2C-9F3A-8411-70C75E00110F}"/>
              </a:ext>
            </a:extLst>
          </p:cNvPr>
          <p:cNvSpPr/>
          <p:nvPr/>
        </p:nvSpPr>
        <p:spPr>
          <a:xfrm>
            <a:off x="6083709" y="3357069"/>
            <a:ext cx="45719" cy="3483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8A3C0AE-BC61-5F8A-09E3-7F7A976454B2}"/>
              </a:ext>
            </a:extLst>
          </p:cNvPr>
          <p:cNvSpPr/>
          <p:nvPr/>
        </p:nvSpPr>
        <p:spPr>
          <a:xfrm>
            <a:off x="6096000" y="5022372"/>
            <a:ext cx="45719" cy="466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0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1513-711C-DAD9-C083-9A8B8483D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F7D2D-72AD-A35A-8F6B-40D096DB7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User Module </a:t>
            </a:r>
            <a:r>
              <a:rPr lang="en-US" dirty="0"/>
              <a:t>– Register, Login, Profile</a:t>
            </a:r>
          </a:p>
          <a:p>
            <a:r>
              <a:rPr lang="en-US" dirty="0"/>
              <a:t>Allows students to create an account and log in securely.</a:t>
            </a:r>
          </a:p>
          <a:p>
            <a:r>
              <a:rPr lang="en-US" dirty="0"/>
              <a:t>Stores personal details like name, email, academic background, and interests.</a:t>
            </a:r>
          </a:p>
          <a:p>
            <a:r>
              <a:rPr lang="en-US" dirty="0"/>
              <a:t>Maintains a profile where students can track their quiz attempts, results, and career suggestions.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Quiz Module – 10 MCQs per Subject</a:t>
            </a:r>
          </a:p>
          <a:p>
            <a:r>
              <a:rPr lang="en-US" dirty="0"/>
              <a:t>Each subject (like Science, Commerce, Arts, etc.) contains 10 multiple-choice questions.</a:t>
            </a:r>
          </a:p>
          <a:p>
            <a:r>
              <a:rPr lang="en-US" dirty="0"/>
              <a:t>Questions are designed to assess aptitude, skills, and interest areas.</a:t>
            </a:r>
          </a:p>
          <a:p>
            <a:r>
              <a:rPr lang="en-US" dirty="0"/>
              <a:t>Provides a simple, interactive quiz-taking experience with instant submission.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109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E006F-77EC-BFA6-A4F7-A6E2308E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contnd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6AC11-0BDB-2BE9-F032-A44776694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Result Module – Score Calculation &amp; Suggestions</a:t>
            </a:r>
          </a:p>
          <a:p>
            <a:r>
              <a:rPr lang="en-US" dirty="0"/>
              <a:t>Automatically evaluates answers and generates a score for each subject.</a:t>
            </a:r>
          </a:p>
          <a:p>
            <a:r>
              <a:rPr lang="en-US" dirty="0"/>
              <a:t>Analyzes performance to identify strengths and weaknesses.</a:t>
            </a:r>
          </a:p>
          <a:p>
            <a:r>
              <a:rPr lang="en-US" dirty="0"/>
              <a:t>Provides personalized career stream suggestions (e.g., Engineering, Medicine, Commerce, Arts) based on quiz outcomes.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4. Admin Module – Manage Users &amp; View Reports</a:t>
            </a:r>
          </a:p>
          <a:p>
            <a:r>
              <a:rPr lang="en-US" dirty="0"/>
              <a:t>Admin can add, update, or remove users.</a:t>
            </a:r>
          </a:p>
          <a:p>
            <a:r>
              <a:rPr lang="en-US" dirty="0"/>
              <a:t>Has the authority to manage quiz content (questions &amp; answers).</a:t>
            </a:r>
          </a:p>
          <a:p>
            <a:r>
              <a:rPr lang="en-US" dirty="0"/>
              <a:t>Can view overall reports, user progress, and analytics to improve the 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12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314C-2294-7251-7A2B-F65DB479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Hardwere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Softwere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58ED-EB91-F313-40DB-6270A4282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868129"/>
            <a:ext cx="10668000" cy="3136490"/>
          </a:xfrm>
        </p:spPr>
        <p:txBody>
          <a:bodyPr/>
          <a:lstStyle/>
          <a:p>
            <a:r>
              <a:rPr lang="en-IN" b="1" dirty="0"/>
              <a:t>Hardware</a:t>
            </a:r>
            <a:r>
              <a:rPr lang="en-IN" dirty="0"/>
              <a:t>: Standard PC (4GB RAM, 500GB HDD).</a:t>
            </a:r>
          </a:p>
          <a:p>
            <a:endParaRPr lang="en-IN" dirty="0"/>
          </a:p>
          <a:p>
            <a:r>
              <a:rPr lang="en-IN" b="1" dirty="0"/>
              <a:t>Software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XAMPP (PHP, MySQL, Apache).</a:t>
            </a:r>
          </a:p>
          <a:p>
            <a:pPr lvl="1"/>
            <a:r>
              <a:rPr lang="en-IN" dirty="0"/>
              <a:t>HTML, CSS, Bootstrap.</a:t>
            </a:r>
          </a:p>
          <a:p>
            <a:pPr lvl="1"/>
            <a:r>
              <a:rPr lang="en-IN" dirty="0"/>
              <a:t>phpMyAdmin for DB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14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F641-6A42-B6A7-A3FF-33065899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E01C5-CBA8-162E-2BE0-D555899E8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Week 1–2: Literature survey &amp; planning.</a:t>
            </a:r>
          </a:p>
          <a:p>
            <a:pPr>
              <a:lnSpc>
                <a:spcPct val="200000"/>
              </a:lnSpc>
            </a:pPr>
            <a:r>
              <a:rPr lang="en-IN" dirty="0"/>
              <a:t>Week 3–4: Database &amp; user module.</a:t>
            </a:r>
          </a:p>
          <a:p>
            <a:pPr>
              <a:lnSpc>
                <a:spcPct val="200000"/>
              </a:lnSpc>
            </a:pPr>
            <a:r>
              <a:rPr lang="en-US" dirty="0"/>
              <a:t>Week 5–6: Quiz &amp; result system.</a:t>
            </a:r>
          </a:p>
          <a:p>
            <a:pPr>
              <a:lnSpc>
                <a:spcPct val="200000"/>
              </a:lnSpc>
            </a:pPr>
            <a:r>
              <a:rPr lang="en-IN" dirty="0"/>
              <a:t>Week 7: Testing &amp; debugging.</a:t>
            </a:r>
          </a:p>
          <a:p>
            <a:pPr>
              <a:lnSpc>
                <a:spcPct val="200000"/>
              </a:lnSpc>
            </a:pPr>
            <a:r>
              <a:rPr lang="en-US" dirty="0"/>
              <a:t>Week 8: Final review &amp; report submission.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289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3F59-9D01-FC4C-1043-851082E9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9A501-C444-1B1B-7A5C-26D91BE77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[1] Brusilovsky, P., &amp; Millán, E. (2007). "User models for adaptive hypermedia and adaptive educational systems." The Adaptive Web, Springer, 3-53. </a:t>
            </a:r>
          </a:p>
          <a:p>
            <a:endParaRPr lang="en-IN" sz="1600" dirty="0"/>
          </a:p>
          <a:p>
            <a:r>
              <a:rPr lang="en-US" sz="1600" dirty="0"/>
              <a:t>[2] </a:t>
            </a:r>
            <a:r>
              <a:rPr lang="en-US" sz="1600" dirty="0" err="1"/>
              <a:t>Drachsler</a:t>
            </a:r>
            <a:r>
              <a:rPr lang="en-US" sz="1600" dirty="0"/>
              <a:t>, H., Hummel, H. G. K., &amp; Koper, R. (2008). "Personal recommender systems for learners in lifelong learning networks." Educational Technology &amp; Society, 11(1), 179-192. </a:t>
            </a:r>
          </a:p>
          <a:p>
            <a:endParaRPr lang="en-IN" sz="1600" dirty="0"/>
          </a:p>
          <a:p>
            <a:r>
              <a:rPr lang="en-US" sz="1600" dirty="0"/>
              <a:t>[3] Ricci, F., Rokach, L., &amp; Shapira, B. (2015). "Recommender Systems Handbook." Springer. </a:t>
            </a:r>
          </a:p>
          <a:p>
            <a:endParaRPr lang="en-IN" sz="1600" dirty="0"/>
          </a:p>
          <a:p>
            <a:r>
              <a:rPr lang="en-US" sz="1600" dirty="0"/>
              <a:t>[4] Kardan, A. A., &amp; </a:t>
            </a:r>
            <a:r>
              <a:rPr lang="en-US" sz="1600" dirty="0" err="1"/>
              <a:t>Conati</a:t>
            </a:r>
            <a:r>
              <a:rPr lang="en-US" sz="1600" dirty="0"/>
              <a:t>, C. (2015). "Providing adaptive support in learning environments based on user knowledge and preferences." User Modeling and User-Adapted Interaction, 25(2), 93-146.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82524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7">
            <a:extLst>
              <a:ext uri="{FF2B5EF4-FFF2-40B4-BE49-F238E27FC236}">
                <a16:creationId xmlns:a16="http://schemas.microsoft.com/office/drawing/2014/main" id="{DA0B75F0-B6F2-4E70-2953-6FCC5B482F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34DA0DC8-28F6-83F5-9F0F-F615A61E0D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Google Shape;115;p17">
            <a:extLst>
              <a:ext uri="{FF2B5EF4-FFF2-40B4-BE49-F238E27FC236}">
                <a16:creationId xmlns:a16="http://schemas.microsoft.com/office/drawing/2014/main" id="{E74CEC2B-A863-10CF-2C4C-BD5F4ED81C00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Google Shape;115;p17">
            <a:extLst>
              <a:ext uri="{FF2B5EF4-FFF2-40B4-BE49-F238E27FC236}">
                <a16:creationId xmlns:a16="http://schemas.microsoft.com/office/drawing/2014/main" id="{ACF1EDB3-CB3A-ADBB-1326-639869604DEA}"/>
              </a:ext>
            </a:extLst>
          </p:cNvPr>
          <p:cNvSpPr txBox="1">
            <a:spLocks/>
          </p:cNvSpPr>
          <p:nvPr/>
        </p:nvSpPr>
        <p:spPr>
          <a:xfrm>
            <a:off x="812800" y="1143000"/>
            <a:ext cx="10668000" cy="397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fr-FR" dirty="0"/>
              <a:t>Project Code: </a:t>
            </a:r>
            <a:r>
              <a:rPr lang="fr-FR" dirty="0">
                <a:hlinkClick r:id="rId2"/>
              </a:rPr>
              <a:t>https://github.com/thilakbhosle/AI_Personalized_Learning_Path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Includes</a:t>
            </a:r>
            <a:r>
              <a:rPr lang="fr-FR" dirty="0"/>
              <a:t>:</a:t>
            </a:r>
          </a:p>
          <a:p>
            <a:r>
              <a:rPr lang="fr-FR" dirty="0"/>
              <a:t>Source Code</a:t>
            </a:r>
          </a:p>
          <a:p>
            <a:r>
              <a:rPr lang="fr-FR" dirty="0" err="1"/>
              <a:t>Datasets</a:t>
            </a:r>
            <a:endParaRPr lang="fr-FR" dirty="0"/>
          </a:p>
          <a:p>
            <a:r>
              <a:rPr lang="fr-FR" dirty="0"/>
              <a:t>Documentation</a:t>
            </a:r>
          </a:p>
          <a:p>
            <a:r>
              <a:rPr lang="fr-FR" dirty="0"/>
              <a:t>Model Training Scripts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55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A70B-1D0A-F7DC-82E5-F4EEE2EC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09AA6-880E-4F82-732B-1E48609C6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58529"/>
            <a:ext cx="10668000" cy="4837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Successfully developed a web-based career counselling system with user, quiz, result, and admin modules.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platform helps students identify strengths and interests through subject-specific quizzes.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 Provides personalized career suggestions (Science, Commerce, Arts) based on quiz performance.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Ensures easy accessibility, self-paced learning, and profile tracking for students.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Acts as a cost-effective alternative to traditional counselling, making career guidance more interactive and reliable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97945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1259</Words>
  <Application>Microsoft Office PowerPoint</Application>
  <PresentationFormat>Widescreen</PresentationFormat>
  <Paragraphs>178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Cambria</vt:lpstr>
      <vt:lpstr>Verdana</vt:lpstr>
      <vt:lpstr>Wingdings</vt:lpstr>
      <vt:lpstr>Bioinformatics</vt:lpstr>
      <vt:lpstr>AI-Powered Personalized Learning Path Generator</vt:lpstr>
      <vt:lpstr>Content</vt:lpstr>
      <vt:lpstr>Abstract</vt:lpstr>
      <vt:lpstr>Literature Survey</vt:lpstr>
      <vt:lpstr>Objectives</vt:lpstr>
      <vt:lpstr>Existing Methods and Drawbacks</vt:lpstr>
      <vt:lpstr>Proposed Method &amp; Feasibility Study</vt:lpstr>
      <vt:lpstr>Architecture Diagram</vt:lpstr>
      <vt:lpstr>Modules</vt:lpstr>
      <vt:lpstr>Modules (contnd..)</vt:lpstr>
      <vt:lpstr>Hardwere and Softwere Details</vt:lpstr>
      <vt:lpstr>Timeline</vt:lpstr>
      <vt:lpstr>References</vt:lpstr>
      <vt:lpstr>Github Link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Thilak Bhosle</cp:lastModifiedBy>
  <cp:revision>42</cp:revision>
  <dcterms:modified xsi:type="dcterms:W3CDTF">2026-04-08T06:01:38Z</dcterms:modified>
</cp:coreProperties>
</file>